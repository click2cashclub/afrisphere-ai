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5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F3D22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914400"/>
            <a:ext cx="3840480" cy="3840480"/>
          </a:xfrm>
          <a:prstGeom prst="ellipse">
            <a:avLst/>
          </a:prstGeom>
          <a:solidFill>
            <a:srgbClr val="CA8A04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4008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ZIMBABWE  •  DESIGNED FOR AFRICA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64008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64008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ZIMBABWE  •  DESIGNED FOR AFRICA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AfriSphere AI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A8A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Africa's Travel Intelligence Platform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9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Zuri — an AI travel companion that plans real, personalized African journeys using verified local knowledge, not generic global guesses.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Ancient Cultures.  Modern Intelligence.  One Africa.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6309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Africa Applied AI Lab — Application Pitch Deck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AfriSphere AI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DECD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Africa deserves travel intelligence built for Africa.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an African journey means jumping between guidebooks, blogs, booking platforms, reviews, and scattered local information — and most AI travel tools weren't built with African context in mind.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51663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2926080"/>
            <a:ext cx="594360" cy="594360"/>
          </a:xfrm>
          <a:prstGeom prst="ellipse">
            <a:avLst/>
          </a:prstGeom>
          <a:solidFill>
            <a:srgbClr val="FDECD1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926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91640" y="288036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 AI lacks local context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356616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travel assistants miss local languages, culture, and authentic experiences across the continent.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2651760"/>
            <a:ext cx="51663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37960" y="2926080"/>
            <a:ext cx="594360" cy="594360"/>
          </a:xfrm>
          <a:prstGeom prst="ellipse">
            <a:avLst/>
          </a:prstGeom>
          <a:solidFill>
            <a:srgbClr val="FDECD1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2926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315200" y="288036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Travel information goes stale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37960" y="356616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content can't adapt to a traveller's interests, budget, style, or changing local conditions.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754880"/>
            <a:ext cx="51663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4400" y="5029200"/>
            <a:ext cx="594360" cy="594360"/>
          </a:xfrm>
          <a:prstGeom prst="ellipse">
            <a:avLst/>
          </a:prstGeom>
          <a:solidFill>
            <a:srgbClr val="FDECD1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029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691640" y="498348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knowledge is fragmented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4400" y="566928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 recommendations are scattered across reviews, social media, and local experts.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63640" y="4754880"/>
            <a:ext cx="51663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37960" y="5029200"/>
            <a:ext cx="594360" cy="594360"/>
          </a:xfrm>
          <a:prstGeom prst="ellipse">
            <a:avLst/>
          </a:prstGeom>
          <a:solidFill>
            <a:srgbClr val="FDECD1"/>
          </a:solidFill>
          <a:ln/>
        </p:spPr>
      </p:sp>
      <p:sp>
        <p:nvSpPr>
          <p:cNvPr id="25" name="Text 23"/>
          <p:cNvSpPr/>
          <p:nvPr/>
        </p:nvSpPr>
        <p:spPr>
          <a:xfrm>
            <a:off x="6537960" y="5029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315200" y="498348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 takes too much time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537960" y="566928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accommodation, transport, food, and culture into one plan turns into hours of research.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5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AfriSphere AI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1D443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4864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MEET ZURI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6035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African Travel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CA8A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Companion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5577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C9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Zuri plans unforgettable journeys, discovers authentic local experiences, and helps travellers explore Africa with personalized itineraries, trusted recommendations, and travel intelligence built for the continent — not adapted for it.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4416552"/>
            <a:ext cx="91440" cy="91440"/>
          </a:xfrm>
          <a:prstGeom prst="ellipse">
            <a:avLst/>
          </a:prstGeom>
          <a:solidFill>
            <a:srgbClr val="CA8A04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427024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powered by Google Gemini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800600"/>
            <a:ext cx="91440" cy="91440"/>
          </a:xfrm>
          <a:prstGeom prst="ellipse">
            <a:avLst/>
          </a:prstGeom>
          <a:solidFill>
            <a:srgbClr val="CA8A04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4654296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itineraries by budget, style &amp; time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5184648"/>
            <a:ext cx="91440" cy="91440"/>
          </a:xfrm>
          <a:prstGeom prst="ellipse">
            <a:avLst/>
          </a:prstGeom>
          <a:solidFill>
            <a:srgbClr val="CA8A04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5038344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local data — never invented facts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5568696"/>
            <a:ext cx="91440" cy="91440"/>
          </a:xfrm>
          <a:prstGeom prst="ellipse">
            <a:avLst/>
          </a:prstGeom>
          <a:solidFill>
            <a:srgbClr val="CA8A04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" y="542239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Multilingual: English, Shona, Ndebele &amp; more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0" y="1051560"/>
            <a:ext cx="4709160" cy="5349240"/>
          </a:xfrm>
          <a:prstGeom prst="roundRect">
            <a:avLst>
              <a:gd name="adj" fmla="val 3495"/>
            </a:avLst>
          </a:prstGeom>
          <a:solidFill>
            <a:srgbClr val="0F3D22"/>
          </a:solidFill>
          <a:ln w="12700">
            <a:solidFill>
              <a:srgbClr val="2E6B45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32320" y="1325880"/>
            <a:ext cx="457200" cy="457200"/>
          </a:xfrm>
          <a:prstGeom prst="ellipse">
            <a:avLst/>
          </a:prstGeom>
          <a:solidFill>
            <a:srgbClr val="CA8A04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🌍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26680" y="13075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Zuri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26680" y="156362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Ready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863840" y="2011680"/>
            <a:ext cx="3429000" cy="685800"/>
          </a:xfrm>
          <a:prstGeom prst="roundRect">
            <a:avLst>
              <a:gd name="adj" fmla="val 18667"/>
            </a:avLst>
          </a:prstGeom>
          <a:solidFill>
            <a:srgbClr val="CA8A04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0" y="20116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3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When's the best time to visit Victoria Falls?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32320" y="2834640"/>
            <a:ext cx="4160520" cy="1417320"/>
          </a:xfrm>
          <a:prstGeom prst="roundRect">
            <a:avLst>
              <a:gd name="adj" fmla="val 9032"/>
            </a:avLst>
          </a:prstGeom>
          <a:solidFill>
            <a:srgbClr val="16382A"/>
          </a:solidFill>
          <a:ln w="9525">
            <a:solidFill>
              <a:srgbClr val="2E6B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0" y="2971800"/>
            <a:ext cx="3794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6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Victoria Falls changes through the year — higher water after the rainy season, or drier months for clearer gorge views paired well with a Hwange safari.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132320" y="4480560"/>
            <a:ext cx="1965960" cy="914400"/>
          </a:xfrm>
          <a:prstGeom prst="roundRect">
            <a:avLst>
              <a:gd name="adj" fmla="val 12000"/>
            </a:avLst>
          </a:prstGeom>
          <a:solidFill>
            <a:srgbClr val="16382A"/>
          </a:solidFill>
          <a:ln w="9525">
            <a:solidFill>
              <a:srgbClr val="2E6B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96912" y="45902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💦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96912" y="495604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Victoria Falls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253728" y="4480560"/>
            <a:ext cx="1965960" cy="914400"/>
          </a:xfrm>
          <a:prstGeom prst="roundRect">
            <a:avLst>
              <a:gd name="adj" fmla="val 12000"/>
            </a:avLst>
          </a:prstGeom>
          <a:solidFill>
            <a:srgbClr val="16382A"/>
          </a:solidFill>
          <a:ln w="9525">
            <a:solidFill>
              <a:srgbClr val="2E6B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18320" y="45902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🦁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418320" y="495604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Hwange Safari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635240" y="5669280"/>
            <a:ext cx="3154680" cy="502920"/>
          </a:xfrm>
          <a:prstGeom prst="roundRect">
            <a:avLst>
              <a:gd name="adj" fmla="val 50909"/>
            </a:avLst>
          </a:prstGeom>
          <a:solidFill>
            <a:srgbClr val="EA580C"/>
          </a:solidFill>
          <a:ln/>
        </p:spPr>
      </p:sp>
      <p:sp>
        <p:nvSpPr>
          <p:cNvPr id="32" name="Text 30"/>
          <p:cNvSpPr/>
          <p:nvPr/>
        </p:nvSpPr>
        <p:spPr>
          <a:xfrm>
            <a:off x="7635240" y="566928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Planning With Zuri →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AfriSphere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AI vs. Zuri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assistants can describe Africa. Zuri is built to actually know it.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5029200" cy="41148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23317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B83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AI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234440" y="301752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00200" y="3017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know local transport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3584448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00200" y="35844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know hidden gems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4151376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0200" y="415137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understand African tourism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4718304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00200" y="471830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verified local data source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34440" y="528523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0200" y="52852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invent facts with confidence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1965960"/>
            <a:ext cx="5029200" cy="4114800"/>
          </a:xfrm>
          <a:prstGeom prst="roundRect">
            <a:avLst>
              <a:gd name="adj" fmla="val 3111"/>
            </a:avLst>
          </a:prstGeom>
          <a:solidFill>
            <a:srgbClr val="14532D"/>
          </a:solidFill>
          <a:ln/>
          <a:effectLst>
            <a:outerShdw sx="100000" sy="100000" kx="0" ky="0" algn="bl" rotWithShape="0" blurRad="152400" dist="63500" dir="54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20840" y="23317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Zuri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720840" y="301752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86600" y="3017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guides &amp; community experiences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20840" y="3584448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86600" y="35844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Wildlife, culture &amp; languages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20840" y="4151376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86600" y="415137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optimization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20840" y="4718304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86600" y="471830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insights &amp; real itineraries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720840" y="528523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086600" y="52852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local data as source of truth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AfriSphere AI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0292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3EDE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02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ZURI STAYS HONEST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trust-first architecture, not a chatbot wrapper.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Local, verified data is the source of truth for every recommendation. Gemini adds conversational intelligence — it never overrides what the app already knows to be true.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1965960" cy="237744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303020" y="3017520"/>
            <a:ext cx="640080" cy="640080"/>
          </a:xfrm>
          <a:prstGeom prst="ellipse">
            <a:avLst/>
          </a:prstGeom>
          <a:solidFill>
            <a:srgbClr val="14532D"/>
          </a:solidFill>
          <a:ln/>
        </p:spPr>
      </p:sp>
      <p:sp>
        <p:nvSpPr>
          <p:cNvPr id="10" name="Text 8"/>
          <p:cNvSpPr/>
          <p:nvPr/>
        </p:nvSpPr>
        <p:spPr>
          <a:xfrm>
            <a:off x="1303020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7240" y="38404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Message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434340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Traveller's original question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624328" y="3703320"/>
            <a:ext cx="219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8A04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862072" y="2743200"/>
            <a:ext cx="1965960" cy="237744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525012" y="3017520"/>
            <a:ext cx="640080" cy="640080"/>
          </a:xfrm>
          <a:prstGeom prst="ellipse">
            <a:avLst/>
          </a:prstGeom>
          <a:solidFill>
            <a:srgbClr val="14532D"/>
          </a:solidFill>
          <a:ln/>
        </p:spPr>
      </p:sp>
      <p:sp>
        <p:nvSpPr>
          <p:cNvPr id="16" name="Text 14"/>
          <p:cNvSpPr/>
          <p:nvPr/>
        </p:nvSpPr>
        <p:spPr>
          <a:xfrm>
            <a:off x="3525012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999232" y="38404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Intent Detection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999232" y="434340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Food, hotel, destination, experience or trip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46320" y="3703320"/>
            <a:ext cx="219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8A04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084064" y="2743200"/>
            <a:ext cx="1965960" cy="237744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747004" y="3017520"/>
            <a:ext cx="640080" cy="640080"/>
          </a:xfrm>
          <a:prstGeom prst="ellipse">
            <a:avLst/>
          </a:prstGeom>
          <a:solidFill>
            <a:srgbClr val="CA8A04"/>
          </a:solidFill>
          <a:ln/>
        </p:spPr>
      </p:sp>
      <p:sp>
        <p:nvSpPr>
          <p:cNvPr id="22" name="Text 20"/>
          <p:cNvSpPr/>
          <p:nvPr/>
        </p:nvSpPr>
        <p:spPr>
          <a:xfrm>
            <a:off x="5747004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221224" y="38404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Local Data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221224" y="434340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Zimbabwe destinations &amp; recommendations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068312" y="3703320"/>
            <a:ext cx="219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8A04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306056" y="2743200"/>
            <a:ext cx="1965960" cy="237744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968996" y="3017520"/>
            <a:ext cx="640080" cy="640080"/>
          </a:xfrm>
          <a:prstGeom prst="ellipse">
            <a:avLst/>
          </a:prstGeom>
          <a:solidFill>
            <a:srgbClr val="14532D"/>
          </a:solidFill>
          <a:ln/>
        </p:spPr>
      </p:sp>
      <p:sp>
        <p:nvSpPr>
          <p:cNvPr id="28" name="Text 26"/>
          <p:cNvSpPr/>
          <p:nvPr/>
        </p:nvSpPr>
        <p:spPr>
          <a:xfrm>
            <a:off x="7968996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✨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443216" y="38404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Layer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443216" y="434340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Natural, conversational explanation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290304" y="3703320"/>
            <a:ext cx="219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8A04"/>
                </a:solidFill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528048" y="2743200"/>
            <a:ext cx="1965960" cy="237744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0190988" y="3017520"/>
            <a:ext cx="640080" cy="640080"/>
          </a:xfrm>
          <a:prstGeom prst="ellipse">
            <a:avLst/>
          </a:prstGeom>
          <a:solidFill>
            <a:srgbClr val="14532D"/>
          </a:solidFill>
          <a:ln/>
        </p:spPr>
      </p:sp>
      <p:sp>
        <p:nvSpPr>
          <p:cNvPr id="34" name="Text 32"/>
          <p:cNvSpPr/>
          <p:nvPr/>
        </p:nvSpPr>
        <p:spPr>
          <a:xfrm>
            <a:off x="10190988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9665208" y="38404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Cards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9665208" y="434340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Accurate, UI-ready recommendations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40080" y="548640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E3EDE7"/>
          </a:solidFill>
          <a:ln/>
        </p:spPr>
      </p:sp>
      <p:sp>
        <p:nvSpPr>
          <p:cNvPr id="38" name="Text 36"/>
          <p:cNvSpPr/>
          <p:nvPr/>
        </p:nvSpPr>
        <p:spPr>
          <a:xfrm>
            <a:off x="914400" y="548640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Gemini's structured output conflicts with verified local records, the local record always wins — and unverifiable details (prices, hours, bookings) are never invented.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AfriSphere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Africa.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adapted for Africa.  </a:t>
            </a:r>
            <a:pPr algn="ctr"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from Africa.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60120" y="2331720"/>
            <a:ext cx="3383280" cy="1737360"/>
          </a:xfrm>
          <a:prstGeom prst="roundRect">
            <a:avLst>
              <a:gd name="adj" fmla="val 7368"/>
            </a:avLst>
          </a:prstGeom>
          <a:solidFill>
            <a:srgbClr val="FAFAF9"/>
          </a:solidFill>
          <a:ln w="12700">
            <a:solidFill>
              <a:srgbClr val="EDE9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2606040"/>
            <a:ext cx="731520" cy="731520"/>
          </a:xfrm>
          <a:prstGeom prst="ellipse">
            <a:avLst/>
          </a:prstGeom>
          <a:solidFill>
            <a:srgbClr val="E3EDE7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2606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🗺️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143000" y="34747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Knowledge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2331720"/>
            <a:ext cx="3383280" cy="1737360"/>
          </a:xfrm>
          <a:prstGeom prst="roundRect">
            <a:avLst>
              <a:gd name="adj" fmla="val 7368"/>
            </a:avLst>
          </a:prstGeom>
          <a:solidFill>
            <a:srgbClr val="FAFAF9"/>
          </a:solidFill>
          <a:ln w="12700">
            <a:solidFill>
              <a:srgbClr val="EDE9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89320" y="2606040"/>
            <a:ext cx="731520" cy="731520"/>
          </a:xfrm>
          <a:prstGeom prst="ellipse">
            <a:avLst/>
          </a:prstGeom>
          <a:solidFill>
            <a:srgbClr val="E3EDE7"/>
          </a:solidFill>
          <a:ln/>
        </p:spPr>
      </p:sp>
      <p:sp>
        <p:nvSpPr>
          <p:cNvPr id="12" name="Text 10"/>
          <p:cNvSpPr/>
          <p:nvPr/>
        </p:nvSpPr>
        <p:spPr>
          <a:xfrm>
            <a:off x="5989320" y="2606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🌍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846320" y="34747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Indigenous Culture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366760" y="2331720"/>
            <a:ext cx="3383280" cy="1737360"/>
          </a:xfrm>
          <a:prstGeom prst="roundRect">
            <a:avLst>
              <a:gd name="adj" fmla="val 7368"/>
            </a:avLst>
          </a:prstGeom>
          <a:solidFill>
            <a:srgbClr val="FAFAF9"/>
          </a:solidFill>
          <a:ln w="12700">
            <a:solidFill>
              <a:srgbClr val="EDE9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0" y="2606040"/>
            <a:ext cx="731520" cy="731520"/>
          </a:xfrm>
          <a:prstGeom prst="ellipse">
            <a:avLst/>
          </a:prstGeom>
          <a:solidFill>
            <a:srgbClr val="E3EDE7"/>
          </a:solidFill>
          <a:ln/>
        </p:spPr>
      </p:sp>
      <p:sp>
        <p:nvSpPr>
          <p:cNvPr id="16" name="Text 14"/>
          <p:cNvSpPr/>
          <p:nvPr/>
        </p:nvSpPr>
        <p:spPr>
          <a:xfrm>
            <a:off x="9692640" y="2606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🏕️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549640" y="34747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Tourism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60120" y="4389120"/>
            <a:ext cx="3383280" cy="1737360"/>
          </a:xfrm>
          <a:prstGeom prst="roundRect">
            <a:avLst>
              <a:gd name="adj" fmla="val 7368"/>
            </a:avLst>
          </a:prstGeom>
          <a:solidFill>
            <a:srgbClr val="FAFAF9"/>
          </a:solidFill>
          <a:ln w="12700">
            <a:solidFill>
              <a:srgbClr val="EDE9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0" y="4663440"/>
            <a:ext cx="731520" cy="731520"/>
          </a:xfrm>
          <a:prstGeom prst="ellipse">
            <a:avLst/>
          </a:prstGeom>
          <a:solidFill>
            <a:srgbClr val="E3EDE7"/>
          </a:solidFill>
          <a:ln/>
        </p:spPr>
      </p:sp>
      <p:sp>
        <p:nvSpPr>
          <p:cNvPr id="20" name="Text 18"/>
          <p:cNvSpPr/>
          <p:nvPr/>
        </p:nvSpPr>
        <p:spPr>
          <a:xfrm>
            <a:off x="2286000" y="4663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📍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143000" y="55321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Offline-First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63440" y="4389120"/>
            <a:ext cx="3383280" cy="1737360"/>
          </a:xfrm>
          <a:prstGeom prst="roundRect">
            <a:avLst>
              <a:gd name="adj" fmla="val 7368"/>
            </a:avLst>
          </a:prstGeom>
          <a:solidFill>
            <a:srgbClr val="FAFAF9"/>
          </a:solidFill>
          <a:ln w="12700">
            <a:solidFill>
              <a:srgbClr val="EDE9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9320" y="4663440"/>
            <a:ext cx="731520" cy="731520"/>
          </a:xfrm>
          <a:prstGeom prst="ellipse">
            <a:avLst/>
          </a:prstGeom>
          <a:solidFill>
            <a:srgbClr val="E3EDE7"/>
          </a:solidFill>
          <a:ln/>
        </p:spPr>
      </p:sp>
      <p:sp>
        <p:nvSpPr>
          <p:cNvPr id="24" name="Text 22"/>
          <p:cNvSpPr/>
          <p:nvPr/>
        </p:nvSpPr>
        <p:spPr>
          <a:xfrm>
            <a:off x="5989320" y="4663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4846320" y="55321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Multilingual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366760" y="4389120"/>
            <a:ext cx="3383280" cy="1737360"/>
          </a:xfrm>
          <a:prstGeom prst="roundRect">
            <a:avLst>
              <a:gd name="adj" fmla="val 7368"/>
            </a:avLst>
          </a:prstGeom>
          <a:solidFill>
            <a:srgbClr val="FAFAF9"/>
          </a:solidFill>
          <a:ln w="12700">
            <a:solidFill>
              <a:srgbClr val="EDE9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92640" y="4663440"/>
            <a:ext cx="731520" cy="731520"/>
          </a:xfrm>
          <a:prstGeom prst="ellipse">
            <a:avLst/>
          </a:prstGeom>
          <a:solidFill>
            <a:srgbClr val="E3EDE7"/>
          </a:solidFill>
          <a:ln/>
        </p:spPr>
      </p:sp>
      <p:sp>
        <p:nvSpPr>
          <p:cNvPr id="28" name="Text 26"/>
          <p:cNvSpPr/>
          <p:nvPr/>
        </p:nvSpPr>
        <p:spPr>
          <a:xfrm>
            <a:off x="9692640" y="4663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8549640" y="55321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Native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5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AfriSphere AI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D443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486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Africa's fastest-growing tourism market.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3566160" cy="2651760"/>
          </a:xfrm>
          <a:prstGeom prst="roundRect">
            <a:avLst>
              <a:gd name="adj" fmla="val 4828"/>
            </a:avLst>
          </a:prstGeom>
          <a:solidFill>
            <a:srgbClr val="16382A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5146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A8A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81.3M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68680" y="3337560"/>
            <a:ext cx="3108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arrivals to Africa in 2025 — the fastest-growing region in the world (+8% YoY)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4434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9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Tourism / UNWTO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480560" y="2194560"/>
            <a:ext cx="3566160" cy="2651760"/>
          </a:xfrm>
          <a:prstGeom prst="roundRect">
            <a:avLst>
              <a:gd name="adj" fmla="val 4828"/>
            </a:avLst>
          </a:prstGeom>
          <a:solidFill>
            <a:srgbClr val="16382A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25146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A8A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$25.7B → $39.9B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709160" y="3337560"/>
            <a:ext cx="3108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travel market size in 2025, projected by 2034 (5% CAGR)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09160" y="4434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9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Data Forecast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321040" y="2194560"/>
            <a:ext cx="3566160" cy="2651760"/>
          </a:xfrm>
          <a:prstGeom prst="roundRect">
            <a:avLst>
              <a:gd name="adj" fmla="val 4828"/>
            </a:avLst>
          </a:prstGeom>
          <a:solidFill>
            <a:srgbClr val="16382A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5146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A8A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1.78M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8549640" y="3337560"/>
            <a:ext cx="3108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Zimbabwe international arrivals in 2025, up ~10% year-on-year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549640" y="4434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9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ZimStat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51663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C9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 of Zimbabwe's foreign visitors in Q3 2025 came from within Africa — a large, underserved regional segment global AI travel tools rarely design for.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AfriSphere AI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02920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DCE6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02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ROADMAP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Africa's tourism intelligence platform.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777240" y="2130552"/>
            <a:ext cx="274320" cy="274320"/>
          </a:xfrm>
          <a:prstGeom prst="ellipse">
            <a:avLst/>
          </a:prstGeom>
          <a:solidFill>
            <a:srgbClr val="14532D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404872"/>
            <a:ext cx="0" cy="786384"/>
          </a:xfrm>
          <a:prstGeom prst="line">
            <a:avLst/>
          </a:prstGeom>
          <a:noFill/>
          <a:ln w="19050">
            <a:solidFill>
              <a:srgbClr val="D8D2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34440" y="1965960"/>
            <a:ext cx="102412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0756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463040" y="231343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&amp; Product Foundation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2093976"/>
            <a:ext cx="6446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Zimbabwe tourism research, Zuri concept, brand system &amp; product architecture.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3044952"/>
            <a:ext cx="274320" cy="27432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3319272"/>
            <a:ext cx="0" cy="786384"/>
          </a:xfrm>
          <a:prstGeom prst="line">
            <a:avLst/>
          </a:prstGeom>
          <a:noFill/>
          <a:ln w="19050">
            <a:solidFill>
              <a:srgbClr val="D8D2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34440" y="2880360"/>
            <a:ext cx="102412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63040" y="29900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 — NOW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463040" y="322783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Zimbabwe MVP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3008376"/>
            <a:ext cx="6446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conversations, personalized itineraries, verified destination discovery.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" y="3959352"/>
            <a:ext cx="274320" cy="274320"/>
          </a:xfrm>
          <a:prstGeom prst="ellipse">
            <a:avLst/>
          </a:prstGeom>
          <a:solidFill>
            <a:srgbClr val="C9C2B3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" y="4233672"/>
            <a:ext cx="0" cy="786384"/>
          </a:xfrm>
          <a:prstGeom prst="line">
            <a:avLst/>
          </a:prstGeom>
          <a:noFill/>
          <a:ln w="19050">
            <a:solidFill>
              <a:srgbClr val="D8D2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34440" y="3794760"/>
            <a:ext cx="102412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63040" y="39044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463040" y="414223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Tourism Partner Network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46320" y="3922776"/>
            <a:ext cx="6446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Zuri with local guides, tour operators &amp; accommodation providers.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" y="4873752"/>
            <a:ext cx="274320" cy="274320"/>
          </a:xfrm>
          <a:prstGeom prst="ellipse">
            <a:avLst/>
          </a:prstGeom>
          <a:solidFill>
            <a:srgbClr val="C9C2B3"/>
          </a:solidFill>
          <a:ln/>
        </p:spPr>
      </p:sp>
      <p:sp>
        <p:nvSpPr>
          <p:cNvPr id="26" name="Shape 24"/>
          <p:cNvSpPr/>
          <p:nvPr/>
        </p:nvSpPr>
        <p:spPr>
          <a:xfrm>
            <a:off x="914400" y="5148072"/>
            <a:ext cx="0" cy="786384"/>
          </a:xfrm>
          <a:prstGeom prst="line">
            <a:avLst/>
          </a:prstGeom>
          <a:noFill/>
          <a:ln w="19050">
            <a:solidFill>
              <a:srgbClr val="D8D2C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34440" y="4709160"/>
            <a:ext cx="102412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63040" y="48188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463040" y="505663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Southern Africa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846320" y="4837176"/>
            <a:ext cx="6446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Botswana, Zambia, South Africa, Namibia &amp; Mozambique.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77240" y="5788152"/>
            <a:ext cx="274320" cy="274320"/>
          </a:xfrm>
          <a:prstGeom prst="ellipse">
            <a:avLst/>
          </a:prstGeom>
          <a:solidFill>
            <a:srgbClr val="C9C2B3"/>
          </a:solidFill>
          <a:ln/>
        </p:spPr>
      </p:sp>
      <p:sp>
        <p:nvSpPr>
          <p:cNvPr id="32" name="Shape 30"/>
          <p:cNvSpPr/>
          <p:nvPr/>
        </p:nvSpPr>
        <p:spPr>
          <a:xfrm>
            <a:off x="1234440" y="5623560"/>
            <a:ext cx="102412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63040" y="57332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463040" y="597103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Pan-African Platform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846320" y="5751576"/>
            <a:ext cx="6446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multilingual AI tourism layer across the continent.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AfriSphere AI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0292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FDECD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029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TODAY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 MVP — not a mockup.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Pre-launch, and built to be judged on substance: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FAFAF9"/>
          </a:solidFill>
          <a:ln w="12700">
            <a:solidFill>
              <a:srgbClr val="EDE9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514600"/>
            <a:ext cx="502920" cy="502920"/>
          </a:xfrm>
          <a:prstGeom prst="ellipse">
            <a:avLst/>
          </a:prstGeom>
          <a:solidFill>
            <a:srgbClr val="E3EDE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24688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Zuri is live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8680" y="315468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Gemini-powered conversational AI, deployed and functional today.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0" y="228600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FAFAF9"/>
          </a:solidFill>
          <a:ln w="12700">
            <a:solidFill>
              <a:srgbClr val="EDE9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2514600"/>
            <a:ext cx="502920" cy="502920"/>
          </a:xfrm>
          <a:prstGeom prst="ellipse">
            <a:avLst/>
          </a:prstGeom>
          <a:solidFill>
            <a:srgbClr val="E3EDE7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🗺️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257800" y="24688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destinations, fully researched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617720" y="315468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Zimbabwe destination data — Victoria Falls, Hwange, Great Zimbabwe &amp; more.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38160" y="228600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FAFAF9"/>
          </a:solidFill>
          <a:ln w="12700">
            <a:solidFill>
              <a:srgbClr val="EDE9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66760" y="2514600"/>
            <a:ext cx="502920" cy="502920"/>
          </a:xfrm>
          <a:prstGeom prst="ellipse">
            <a:avLst/>
          </a:prstGeom>
          <a:solidFill>
            <a:srgbClr val="E3EDE7"/>
          </a:solidFill>
          <a:ln/>
        </p:spPr>
      </p:sp>
      <p:sp>
        <p:nvSpPr>
          <p:cNvPr id="20" name="Text 18"/>
          <p:cNvSpPr/>
          <p:nvPr/>
        </p:nvSpPr>
        <p:spPr>
          <a:xfrm>
            <a:off x="836676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🏖️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006840" y="24688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recommendation engine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366760" y="315468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Restaurants, hotels &amp; experiences matched to real local records, not AI guesses.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438912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FAFAF9"/>
          </a:solidFill>
          <a:ln w="12700">
            <a:solidFill>
              <a:srgbClr val="EDE9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680" y="4617720"/>
            <a:ext cx="502920" cy="502920"/>
          </a:xfrm>
          <a:prstGeom prst="ellipse">
            <a:avLst/>
          </a:prstGeom>
          <a:solidFill>
            <a:srgbClr val="E3EDE7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617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508760" y="45720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Multilingual foundation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68680" y="525780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a founder fluent in English, French, Shona &amp; Ndebele.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389120" y="438912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FAFAF9"/>
          </a:solidFill>
          <a:ln w="12700">
            <a:solidFill>
              <a:srgbClr val="EDE9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17720" y="4617720"/>
            <a:ext cx="502920" cy="502920"/>
          </a:xfrm>
          <a:prstGeom prst="ellipse">
            <a:avLst/>
          </a:prstGeom>
          <a:solidFill>
            <a:srgbClr val="E3EDE7"/>
          </a:solidFill>
          <a:ln/>
        </p:spPr>
      </p:sp>
      <p:sp>
        <p:nvSpPr>
          <p:cNvPr id="30" name="Text 28"/>
          <p:cNvSpPr/>
          <p:nvPr/>
        </p:nvSpPr>
        <p:spPr>
          <a:xfrm>
            <a:off x="4617720" y="4617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📩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257800" y="45720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access waitlist live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617720" y="525780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Waitlist and launch infrastructure ready for Zimbabwe rollout.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138160" y="438912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FAFAF9"/>
          </a:solidFill>
          <a:ln w="12700">
            <a:solidFill>
              <a:srgbClr val="EDE9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66760" y="4617720"/>
            <a:ext cx="502920" cy="502920"/>
          </a:xfrm>
          <a:prstGeom prst="ellipse">
            <a:avLst/>
          </a:prstGeom>
          <a:solidFill>
            <a:srgbClr val="E3EDE7"/>
          </a:solidFill>
          <a:ln/>
        </p:spPr>
      </p:sp>
      <p:sp>
        <p:nvSpPr>
          <p:cNvPr id="35" name="Text 33"/>
          <p:cNvSpPr/>
          <p:nvPr/>
        </p:nvSpPr>
        <p:spPr>
          <a:xfrm>
            <a:off x="8366760" y="4617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006840" y="45720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Production-grade codebase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366760" y="525780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TypeScript, automated checks, and a clean build — ready to scale.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5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AfriSphere AI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D443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4864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by someone who ships.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4206240" cy="4206240"/>
          </a:xfrm>
          <a:prstGeom prst="roundRect">
            <a:avLst>
              <a:gd name="adj" fmla="val 3478"/>
            </a:avLst>
          </a:prstGeom>
          <a:solidFill>
            <a:srgbClr val="16382A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286000"/>
            <a:ext cx="1188720" cy="1188720"/>
          </a:xfrm>
          <a:prstGeom prst="ellipse">
            <a:avLst/>
          </a:prstGeom>
          <a:solidFill>
            <a:srgbClr val="CA8A04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28600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3D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286000" y="23774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Tatenda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286000" y="2788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Founder, AfriSphere AI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286000" y="3063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Bulawayo, Zimbabwe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14400" y="37033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Speaks: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14400" y="397764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F3D22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9776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423160" y="397764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F3D22"/>
          </a:solidFill>
          <a:ln/>
        </p:spPr>
      </p:sp>
      <p:sp>
        <p:nvSpPr>
          <p:cNvPr id="17" name="Text 15"/>
          <p:cNvSpPr/>
          <p:nvPr/>
        </p:nvSpPr>
        <p:spPr>
          <a:xfrm>
            <a:off x="2423160" y="39776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14400" y="434340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F3D22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34340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Shona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423160" y="434340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F3D22"/>
          </a:solidFill>
          <a:ln/>
        </p:spPr>
      </p:sp>
      <p:sp>
        <p:nvSpPr>
          <p:cNvPr id="21" name="Text 19"/>
          <p:cNvSpPr/>
          <p:nvPr/>
        </p:nvSpPr>
        <p:spPr>
          <a:xfrm>
            <a:off x="2423160" y="434340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Ndebele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14400" y="484632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9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Fluency across four languages spoken throughout Zimbabwe and the region — a direct, structural advantage in African tourism that global AI competitors cannot easily replicate.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120640" y="1965960"/>
            <a:ext cx="6400800" cy="4206240"/>
          </a:xfrm>
          <a:prstGeom prst="roundRect">
            <a:avLst>
              <a:gd name="adj" fmla="val 3478"/>
            </a:avLst>
          </a:prstGeom>
          <a:solidFill>
            <a:srgbClr val="16382A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0680" y="2240280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founder who builds across the full stack of tourism &amp; tech.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5440680" y="3063240"/>
            <a:ext cx="502920" cy="502920"/>
          </a:xfrm>
          <a:prstGeom prst="ellipse">
            <a:avLst/>
          </a:prstGeom>
          <a:solidFill>
            <a:srgbClr val="0F3D22"/>
          </a:solidFill>
          <a:ln/>
        </p:spPr>
      </p:sp>
      <p:sp>
        <p:nvSpPr>
          <p:cNvPr id="26" name="Text 24"/>
          <p:cNvSpPr/>
          <p:nvPr/>
        </p:nvSpPr>
        <p:spPr>
          <a:xfrm>
            <a:off x="544068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🍽️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080760" y="3035808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Homely House Restaurant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080760" y="3355848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Women-owned traditional Zimbabwean restaurant — hands-on hospitality &amp; local food experience.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40680" y="4023360"/>
            <a:ext cx="502920" cy="502920"/>
          </a:xfrm>
          <a:prstGeom prst="ellipse">
            <a:avLst/>
          </a:prstGeom>
          <a:solidFill>
            <a:srgbClr val="0F3D22"/>
          </a:solidFill>
          <a:ln/>
        </p:spPr>
      </p:sp>
      <p:sp>
        <p:nvSpPr>
          <p:cNvPr id="30" name="Text 28"/>
          <p:cNvSpPr/>
          <p:nvPr/>
        </p:nvSpPr>
        <p:spPr>
          <a:xfrm>
            <a:off x="5440680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🏨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080760" y="3995928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Indaba Local Stays / BEALOCAL.TRAVEL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080760" y="4315968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management company built from the ground up — direct tourism operations experience.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40680" y="4983480"/>
            <a:ext cx="502920" cy="502920"/>
          </a:xfrm>
          <a:prstGeom prst="ellipse">
            <a:avLst/>
          </a:prstGeom>
          <a:solidFill>
            <a:srgbClr val="0F3D22"/>
          </a:solidFill>
          <a:ln/>
        </p:spPr>
      </p:sp>
      <p:sp>
        <p:nvSpPr>
          <p:cNvPr id="34" name="Text 32"/>
          <p:cNvSpPr/>
          <p:nvPr/>
        </p:nvSpPr>
        <p:spPr>
          <a:xfrm>
            <a:off x="5440680" y="4983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💻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080760" y="4956048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Web2Map Design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080760" y="5276088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studio building websites for African businesses — the technical foundation behind AfriSphere.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AfriSphere AI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0292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E3EDE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029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looking for from the Applied AI Lab.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51663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423160"/>
            <a:ext cx="594360" cy="594360"/>
          </a:xfrm>
          <a:prstGeom prst="ellipse">
            <a:avLst/>
          </a:prstGeom>
          <a:solidFill>
            <a:srgbClr val="FDECD1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4231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91640" y="237744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mentorship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306324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from applied AI practitioners to harden Zuri's architecture as usage scales.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2148840"/>
            <a:ext cx="51663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37960" y="2423160"/>
            <a:ext cx="594360" cy="594360"/>
          </a:xfrm>
          <a:prstGeom prst="ellipse">
            <a:avLst/>
          </a:prstGeom>
          <a:solidFill>
            <a:srgbClr val="FDECD1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24231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☁️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315200" y="237744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&amp; API support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37960" y="306324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to grow beyond MVP-scale Gemini usage as the Zimbabwe launch ramps up.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297680"/>
            <a:ext cx="51663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0" y="4572000"/>
            <a:ext cx="594360" cy="594360"/>
          </a:xfrm>
          <a:prstGeom prst="ellipse">
            <a:avLst/>
          </a:prstGeom>
          <a:solidFill>
            <a:srgbClr val="FDECD1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5720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691640" y="452628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&amp; credibility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4400" y="521208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Google's African startup network and validation for local tourism partners.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63640" y="4297680"/>
            <a:ext cx="51663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37960" y="4572000"/>
            <a:ext cx="594360" cy="594360"/>
          </a:xfrm>
          <a:prstGeom prst="ellipse">
            <a:avLst/>
          </a:prstGeom>
          <a:solidFill>
            <a:srgbClr val="FDECD1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45720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315200" y="452628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path to scale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537960" y="521208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to move from a working Zimbabwe MVP to a genuine pan-African platform.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5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200400"/>
            <a:ext cx="5486400" cy="5486400"/>
          </a:xfrm>
          <a:prstGeom prst="ellipse">
            <a:avLst/>
          </a:prstGeom>
          <a:solidFill>
            <a:srgbClr val="0F3D22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286000"/>
            <a:ext cx="5029200" cy="5029200"/>
          </a:xfrm>
          <a:prstGeom prst="ellipse">
            <a:avLst/>
          </a:prstGeom>
          <a:solidFill>
            <a:srgbClr val="CA8A04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ZIMBABWE TODAY.  AFRICA TOMORROW.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645920" y="2834640"/>
            <a:ext cx="8869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long-term vision is one intelligent tourism layer connecting travellers with Africa's destinations, cultures, communities, and local businesses.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709160" y="4297680"/>
            <a:ext cx="2743200" cy="54864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7" name="Text 5"/>
          <p:cNvSpPr/>
          <p:nvPr/>
        </p:nvSpPr>
        <p:spPr>
          <a:xfrm>
            <a:off x="4709160" y="42976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 Journey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9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Ancient Cultures.  Modern Intelligence.  One Africa.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2026-08-22T12:10:16Z</dcterms:created>
  <dcterms:modified xsi:type="dcterms:W3CDTF">2026-08-22T12:10:16Z</dcterms:modified>
</cp:coreProperties>
</file>